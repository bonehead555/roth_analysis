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4B506-CA24-5B7C-7043-18FDC67CD8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40BDFF-37D8-2DD3-74B6-C292FCC7827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AD861F-C0E0-9CA6-72E1-92F77B82CF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90143D-4832-40E1-E816-6FEED3FBE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F46A06-FD4E-8270-3C18-DA7EA56FDA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981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FA3A7-D8AA-1F2F-EAC4-608E848FF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DEDB2-EA86-8560-A4D4-702901F6C4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EE38DC-A34C-A654-C4C2-E60F5C612A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3BB73-1820-8026-ACF1-8A9FF1B46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A23BC6-0953-531C-7F53-DC2707B46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23458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BFB5B-7C0C-72D7-6E5F-C16522AC9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B34C286-1485-C67D-D5EE-19952E72A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772015-36B6-D746-8366-D90F4E3D63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D8D821-2623-D606-7B67-6D7FFD543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0D2888-1D34-13C5-972C-57C95A5D7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98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F67E3-1044-6576-1F53-441220309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9493E-B6F9-4E26-C69F-B26602B1DE8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EF09B9-F80F-94D1-DDB3-69A488DBBA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1B75B3-B12A-793B-50FC-70AA784C0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FE9033-9B3A-B994-473E-8D51653F81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2A7B2F-67EE-6606-6927-D6F3CCF6E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2114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17373-70E7-E80D-FAC6-13E66E94B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1B7D60-89B1-54B4-EAE3-03646EC05C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88C19F-6B3B-BAA7-317D-8D3C46270D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6DA1C3-51EC-E128-D13A-1EE33A81DA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220FFCF-EEAC-C171-CAA7-0F5E821543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C9B3182-700E-D399-2A84-7C85D99AD0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9F1281-5F35-A73D-0325-A9B0944220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2B61688-143E-7A48-8B36-72D8254E8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797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98D290-2EFE-DA01-E31E-07E25CCD00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4DE5A31-3016-9BE2-C72E-F11A4AD089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872D120-A744-B3E1-AD18-90E5DB58B9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612663-D9EA-8235-13FD-A21A242D8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8845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B92D19-DFAC-9AC8-9175-F481D833E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762268A-A919-23DE-A2A6-79DAB77EA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08FBC-15D1-A515-2A18-36B7008D5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583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4F118-1764-D086-0A02-AE8C510CE5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3ABE26-87E1-AF2F-3594-829E811D3B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70564F-E630-BFC9-CE50-9DBE6842AD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3AD6D4-D738-70CD-210B-D0FA8A72DB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35572D-C9FB-D2EE-8725-18F204956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CDD387-D699-3474-D207-3DA683804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5509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2CDE7-6DED-8FA4-6EC8-D1426CC2F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E411EFD-F990-3B95-81D1-A67FA320E3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7830C-5708-D38B-01F0-59287618E9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2A5CBD-B5AB-9A3F-6CB2-7F90538D4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72EA09-F4FD-2F6E-623E-181C4C211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FFD1C-83AD-553E-6272-B531F7E6F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6639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0A993-120F-A825-85FE-CE333EE20A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133952D-2F4A-5D12-6075-34FBBEC500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83379F-489A-A1BA-95B8-6CEC35681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347272-8B8E-849D-B87D-28A65BAAF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6FA36-8E27-82B6-7436-9EFB65CF6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16859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4768F8E-3392-4BE0-0E16-0710242D75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80D2C3-9E8A-F92B-0CCC-9C5D778067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D37153-D914-223A-8CC5-D77CD67DC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11C76-668C-2E06-4C30-228975547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AD1EF-0D5E-27A8-FA6B-61B996E89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8067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7AE6B3-ABAE-D282-8D4C-B12BEC0812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DC224-7937-71C4-02B2-95AF6DCB1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BDA723-E27A-F82C-29D5-4F081048CA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14DC0E-3B1D-564B-9FE6-D700E32B79F0}" type="datetimeFigureOut">
              <a:rPr lang="en-US" smtClean="0"/>
              <a:t>12/31/25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90B317-CBDC-5D6E-9D74-F309D7922E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993A7D-3E16-5F04-0BA8-112D092B88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E10033-D3F7-0946-97B3-D5FD87D42C8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4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14E65B8-7B81-2FBD-75AC-167E9C41D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30848"/>
            <a:ext cx="7772400" cy="4596303"/>
          </a:xfrm>
          <a:prstGeom prst="rect">
            <a:avLst/>
          </a:prstGeom>
        </p:spPr>
      </p:pic>
      <p:sp>
        <p:nvSpPr>
          <p:cNvPr id="5" name="Line Callout 2 4">
            <a:extLst>
              <a:ext uri="{FF2B5EF4-FFF2-40B4-BE49-F238E27FC236}">
                <a16:creationId xmlns:a16="http://schemas.microsoft.com/office/drawing/2014/main" id="{49E714A6-1A09-8E96-EF1B-145379D8481F}"/>
              </a:ext>
            </a:extLst>
          </p:cNvPr>
          <p:cNvSpPr/>
          <p:nvPr/>
        </p:nvSpPr>
        <p:spPr>
          <a:xfrm>
            <a:off x="8313684" y="1943362"/>
            <a:ext cx="1408386" cy="777766"/>
          </a:xfrm>
          <a:prstGeom prst="borderCallout2">
            <a:avLst>
              <a:gd name="adj1" fmla="val -2238"/>
              <a:gd name="adj2" fmla="val 56727"/>
              <a:gd name="adj3" fmla="val -14233"/>
              <a:gd name="adj4" fmla="val 70093"/>
              <a:gd name="adj5" fmla="val -32895"/>
              <a:gd name="adj6" fmla="val 8114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File Open,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File Save,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File Save-As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Help</a:t>
            </a:r>
          </a:p>
        </p:txBody>
      </p:sp>
      <p:sp>
        <p:nvSpPr>
          <p:cNvPr id="6" name="Line Callout 2 5">
            <a:extLst>
              <a:ext uri="{FF2B5EF4-FFF2-40B4-BE49-F238E27FC236}">
                <a16:creationId xmlns:a16="http://schemas.microsoft.com/office/drawing/2014/main" id="{12A0B52D-88B1-FCDD-F942-CED03A12B977}"/>
              </a:ext>
            </a:extLst>
          </p:cNvPr>
          <p:cNvSpPr/>
          <p:nvPr/>
        </p:nvSpPr>
        <p:spPr>
          <a:xfrm>
            <a:off x="7325710" y="2879475"/>
            <a:ext cx="2522483" cy="349149"/>
          </a:xfrm>
          <a:prstGeom prst="borderCallout2">
            <a:avLst>
              <a:gd name="adj1" fmla="val 15330"/>
              <a:gd name="adj2" fmla="val -1763"/>
              <a:gd name="adj3" fmla="val -263412"/>
              <a:gd name="adj4" fmla="val -121160"/>
              <a:gd name="adj5" fmla="val -290799"/>
              <a:gd name="adj6" fmla="val -18731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Navigate to the Configuration Screens</a:t>
            </a:r>
          </a:p>
        </p:txBody>
      </p:sp>
      <p:sp>
        <p:nvSpPr>
          <p:cNvPr id="7" name="Line Callout 2 6">
            <a:extLst>
              <a:ext uri="{FF2B5EF4-FFF2-40B4-BE49-F238E27FC236}">
                <a16:creationId xmlns:a16="http://schemas.microsoft.com/office/drawing/2014/main" id="{2DC831DA-A6EA-5ABF-D7FC-652389B86510}"/>
              </a:ext>
            </a:extLst>
          </p:cNvPr>
          <p:cNvSpPr/>
          <p:nvPr/>
        </p:nvSpPr>
        <p:spPr>
          <a:xfrm>
            <a:off x="7325710" y="3353467"/>
            <a:ext cx="2522482" cy="349148"/>
          </a:xfrm>
          <a:prstGeom prst="borderCallout2">
            <a:avLst>
              <a:gd name="adj1" fmla="val 15330"/>
              <a:gd name="adj2" fmla="val -1763"/>
              <a:gd name="adj3" fmla="val -241969"/>
              <a:gd name="adj4" fmla="val -105069"/>
              <a:gd name="adj5" fmla="val -311547"/>
              <a:gd name="adj6" fmla="val -18681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Navigate to the Tabular Results</a:t>
            </a:r>
          </a:p>
        </p:txBody>
      </p:sp>
      <p:sp>
        <p:nvSpPr>
          <p:cNvPr id="8" name="Line Callout 2 7">
            <a:extLst>
              <a:ext uri="{FF2B5EF4-FFF2-40B4-BE49-F238E27FC236}">
                <a16:creationId xmlns:a16="http://schemas.microsoft.com/office/drawing/2014/main" id="{BD47867B-3BE4-CF66-24D2-DC00DAAF1886}"/>
              </a:ext>
            </a:extLst>
          </p:cNvPr>
          <p:cNvSpPr/>
          <p:nvPr/>
        </p:nvSpPr>
        <p:spPr>
          <a:xfrm>
            <a:off x="7325709" y="3827458"/>
            <a:ext cx="2522481" cy="349148"/>
          </a:xfrm>
          <a:prstGeom prst="borderCallout2">
            <a:avLst>
              <a:gd name="adj1" fmla="val 15330"/>
              <a:gd name="adj2" fmla="val -1763"/>
              <a:gd name="adj3" fmla="val -282680"/>
              <a:gd name="adj4" fmla="val -109152"/>
              <a:gd name="adj5" fmla="val -313634"/>
              <a:gd name="adj6" fmla="val -18702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Navigate to the Chart Results</a:t>
            </a:r>
          </a:p>
        </p:txBody>
      </p:sp>
      <p:sp>
        <p:nvSpPr>
          <p:cNvPr id="9" name="Line Callout 2 8">
            <a:extLst>
              <a:ext uri="{FF2B5EF4-FFF2-40B4-BE49-F238E27FC236}">
                <a16:creationId xmlns:a16="http://schemas.microsoft.com/office/drawing/2014/main" id="{77667FB1-75D2-4143-47A4-683D486CA20C}"/>
              </a:ext>
            </a:extLst>
          </p:cNvPr>
          <p:cNvSpPr/>
          <p:nvPr/>
        </p:nvSpPr>
        <p:spPr>
          <a:xfrm>
            <a:off x="7325709" y="4301449"/>
            <a:ext cx="2522481" cy="349148"/>
          </a:xfrm>
          <a:prstGeom prst="borderCallout2">
            <a:avLst>
              <a:gd name="adj1" fmla="val 15330"/>
              <a:gd name="adj2" fmla="val -1763"/>
              <a:gd name="adj3" fmla="val -234515"/>
              <a:gd name="adj4" fmla="val -84360"/>
              <a:gd name="adj5" fmla="val -340727"/>
              <a:gd name="adj6" fmla="val -18725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Navigate to the Transaction Log</a:t>
            </a:r>
          </a:p>
        </p:txBody>
      </p:sp>
    </p:spTree>
    <p:extLst>
      <p:ext uri="{BB962C8B-B14F-4D97-AF65-F5344CB8AC3E}">
        <p14:creationId xmlns:p14="http://schemas.microsoft.com/office/powerpoint/2010/main" val="2457254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B2A4-2A5D-118C-C230-B346B0CF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C028D4C-BFEA-9AC7-9FCA-E5BDE9791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30848"/>
            <a:ext cx="7772400" cy="4596303"/>
          </a:xfrm>
          <a:prstGeom prst="rect">
            <a:avLst/>
          </a:prstGeom>
        </p:spPr>
      </p:pic>
      <p:sp>
        <p:nvSpPr>
          <p:cNvPr id="9" name="Line Callout 2 8">
            <a:extLst>
              <a:ext uri="{FF2B5EF4-FFF2-40B4-BE49-F238E27FC236}">
                <a16:creationId xmlns:a16="http://schemas.microsoft.com/office/drawing/2014/main" id="{D69CE939-44D0-99D9-8133-DE66A174DFC8}"/>
              </a:ext>
            </a:extLst>
          </p:cNvPr>
          <p:cNvSpPr/>
          <p:nvPr/>
        </p:nvSpPr>
        <p:spPr>
          <a:xfrm>
            <a:off x="7567448" y="3429000"/>
            <a:ext cx="2249214" cy="625045"/>
          </a:xfrm>
          <a:prstGeom prst="borderCallout2">
            <a:avLst>
              <a:gd name="adj1" fmla="val 111659"/>
              <a:gd name="adj2" fmla="val 46744"/>
              <a:gd name="adj3" fmla="val 180116"/>
              <a:gd name="adj4" fmla="val 33132"/>
              <a:gd name="adj5" fmla="val 266046"/>
              <a:gd name="adj6" fmla="val 3017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Navigate to a particular Configuration Section</a:t>
            </a:r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0FE31EE9-DF0B-C343-C65C-9C4CF2DB3BD7}"/>
              </a:ext>
            </a:extLst>
          </p:cNvPr>
          <p:cNvSpPr/>
          <p:nvPr/>
        </p:nvSpPr>
        <p:spPr>
          <a:xfrm rot="5400000">
            <a:off x="6232635" y="2070540"/>
            <a:ext cx="304802" cy="6463860"/>
          </a:xfrm>
          <a:prstGeom prst="leftBrace">
            <a:avLst>
              <a:gd name="adj1" fmla="val 8333"/>
              <a:gd name="adj2" fmla="val 21069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7087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45E22-0ECC-68F4-2EB8-7D4FA024B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83A98D-231B-F498-B740-1AEF9161C6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30848"/>
            <a:ext cx="7772400" cy="4596303"/>
          </a:xfrm>
          <a:prstGeom prst="rect">
            <a:avLst/>
          </a:prstGeom>
        </p:spPr>
      </p:pic>
      <p:sp>
        <p:nvSpPr>
          <p:cNvPr id="9" name="Line Callout 2 8">
            <a:extLst>
              <a:ext uri="{FF2B5EF4-FFF2-40B4-BE49-F238E27FC236}">
                <a16:creationId xmlns:a16="http://schemas.microsoft.com/office/drawing/2014/main" id="{231D10DB-C646-284C-E897-D221539831C7}"/>
              </a:ext>
            </a:extLst>
          </p:cNvPr>
          <p:cNvSpPr/>
          <p:nvPr/>
        </p:nvSpPr>
        <p:spPr>
          <a:xfrm>
            <a:off x="7493876" y="2010103"/>
            <a:ext cx="1986455" cy="349148"/>
          </a:xfrm>
          <a:prstGeom prst="borderCallout2">
            <a:avLst>
              <a:gd name="adj1" fmla="val 60484"/>
              <a:gd name="adj2" fmla="val -3066"/>
              <a:gd name="adj3" fmla="val 84409"/>
              <a:gd name="adj4" fmla="val -11541"/>
              <a:gd name="adj5" fmla="val 82606"/>
              <a:gd name="adj6" fmla="val -245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User Information</a:t>
            </a:r>
          </a:p>
        </p:txBody>
      </p:sp>
      <p:sp>
        <p:nvSpPr>
          <p:cNvPr id="3" name="Line Callout 2 2">
            <a:extLst>
              <a:ext uri="{FF2B5EF4-FFF2-40B4-BE49-F238E27FC236}">
                <a16:creationId xmlns:a16="http://schemas.microsoft.com/office/drawing/2014/main" id="{C1EDD780-134E-EA12-0B54-76A25F2E229B}"/>
              </a:ext>
            </a:extLst>
          </p:cNvPr>
          <p:cNvSpPr/>
          <p:nvPr/>
        </p:nvSpPr>
        <p:spPr>
          <a:xfrm>
            <a:off x="7493876" y="2923196"/>
            <a:ext cx="1986455" cy="505804"/>
          </a:xfrm>
          <a:prstGeom prst="borderCallout2">
            <a:avLst>
              <a:gd name="adj1" fmla="val 54463"/>
              <a:gd name="adj2" fmla="val -6241"/>
              <a:gd name="adj3" fmla="val 63338"/>
              <a:gd name="adj4" fmla="val -13658"/>
              <a:gd name="adj5" fmla="val 61534"/>
              <a:gd name="adj6" fmla="val -2669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User’s Spouse Information (if married)</a:t>
            </a:r>
          </a:p>
        </p:txBody>
      </p:sp>
      <p:sp>
        <p:nvSpPr>
          <p:cNvPr id="5" name="Line Callout 2 4">
            <a:extLst>
              <a:ext uri="{FF2B5EF4-FFF2-40B4-BE49-F238E27FC236}">
                <a16:creationId xmlns:a16="http://schemas.microsoft.com/office/drawing/2014/main" id="{C5006E14-D26E-DA5F-5FD3-5066513FF6A3}"/>
              </a:ext>
            </a:extLst>
          </p:cNvPr>
          <p:cNvSpPr/>
          <p:nvPr/>
        </p:nvSpPr>
        <p:spPr>
          <a:xfrm>
            <a:off x="7493876" y="4067503"/>
            <a:ext cx="1986455" cy="410226"/>
          </a:xfrm>
          <a:prstGeom prst="borderCallout2">
            <a:avLst>
              <a:gd name="adj1" fmla="val 54463"/>
              <a:gd name="adj2" fmla="val -6241"/>
              <a:gd name="adj3" fmla="val 68462"/>
              <a:gd name="adj4" fmla="val -12600"/>
              <a:gd name="adj5" fmla="val 71782"/>
              <a:gd name="adj6" fmla="val -2457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Overall Plan  Information</a:t>
            </a:r>
          </a:p>
        </p:txBody>
      </p:sp>
    </p:spTree>
    <p:extLst>
      <p:ext uri="{BB962C8B-B14F-4D97-AF65-F5344CB8AC3E}">
        <p14:creationId xmlns:p14="http://schemas.microsoft.com/office/powerpoint/2010/main" val="21918146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8717D5-DEA6-C12A-FF32-0A18F7150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31580"/>
            <a:ext cx="7772400" cy="4594840"/>
          </a:xfrm>
          <a:prstGeom prst="rect">
            <a:avLst/>
          </a:prstGeom>
        </p:spPr>
      </p:pic>
      <p:sp>
        <p:nvSpPr>
          <p:cNvPr id="3" name="Line Callout 2 2">
            <a:extLst>
              <a:ext uri="{FF2B5EF4-FFF2-40B4-BE49-F238E27FC236}">
                <a16:creationId xmlns:a16="http://schemas.microsoft.com/office/drawing/2014/main" id="{CA79A425-5C6D-4A2C-37F1-BA741FEC17D5}"/>
              </a:ext>
            </a:extLst>
          </p:cNvPr>
          <p:cNvSpPr/>
          <p:nvPr/>
        </p:nvSpPr>
        <p:spPr>
          <a:xfrm>
            <a:off x="7995745" y="2010103"/>
            <a:ext cx="1894489" cy="349148"/>
          </a:xfrm>
          <a:prstGeom prst="borderCallout2">
            <a:avLst>
              <a:gd name="adj1" fmla="val 60484"/>
              <a:gd name="adj2" fmla="val -3066"/>
              <a:gd name="adj3" fmla="val 84409"/>
              <a:gd name="adj4" fmla="val -11541"/>
              <a:gd name="adj5" fmla="val 82606"/>
              <a:gd name="adj6" fmla="val -245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Needed to compute Federal Income tax.</a:t>
            </a:r>
          </a:p>
        </p:txBody>
      </p:sp>
      <p:sp>
        <p:nvSpPr>
          <p:cNvPr id="4" name="Line Callout 2 3">
            <a:extLst>
              <a:ext uri="{FF2B5EF4-FFF2-40B4-BE49-F238E27FC236}">
                <a16:creationId xmlns:a16="http://schemas.microsoft.com/office/drawing/2014/main" id="{43193739-C207-D539-1C01-350426C25AF7}"/>
              </a:ext>
            </a:extLst>
          </p:cNvPr>
          <p:cNvSpPr/>
          <p:nvPr/>
        </p:nvSpPr>
        <p:spPr>
          <a:xfrm>
            <a:off x="7995744" y="2888626"/>
            <a:ext cx="1894489" cy="349148"/>
          </a:xfrm>
          <a:prstGeom prst="borderCallout2">
            <a:avLst>
              <a:gd name="adj1" fmla="val 60484"/>
              <a:gd name="adj2" fmla="val -3066"/>
              <a:gd name="adj3" fmla="val 84409"/>
              <a:gd name="adj4" fmla="val -11541"/>
              <a:gd name="adj5" fmla="val 82606"/>
              <a:gd name="adj6" fmla="val -245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Needed to compute State Income tax.</a:t>
            </a:r>
          </a:p>
        </p:txBody>
      </p:sp>
      <p:sp>
        <p:nvSpPr>
          <p:cNvPr id="5" name="Line Callout 2 4">
            <a:extLst>
              <a:ext uri="{FF2B5EF4-FFF2-40B4-BE49-F238E27FC236}">
                <a16:creationId xmlns:a16="http://schemas.microsoft.com/office/drawing/2014/main" id="{E1916C1A-1B8D-E100-8C63-6033C0A2696F}"/>
              </a:ext>
            </a:extLst>
          </p:cNvPr>
          <p:cNvSpPr/>
          <p:nvPr/>
        </p:nvSpPr>
        <p:spPr>
          <a:xfrm>
            <a:off x="7995744" y="3984085"/>
            <a:ext cx="1894489" cy="349148"/>
          </a:xfrm>
          <a:prstGeom prst="borderCallout2">
            <a:avLst>
              <a:gd name="adj1" fmla="val 60484"/>
              <a:gd name="adj2" fmla="val -3066"/>
              <a:gd name="adj3" fmla="val 84409"/>
              <a:gd name="adj4" fmla="val -11541"/>
              <a:gd name="adj5" fmla="val 82606"/>
              <a:gd name="adj6" fmla="val -2457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Needed to compute Local Income tax (id applicable).</a:t>
            </a:r>
          </a:p>
        </p:txBody>
      </p:sp>
    </p:spTree>
    <p:extLst>
      <p:ext uri="{BB962C8B-B14F-4D97-AF65-F5344CB8AC3E}">
        <p14:creationId xmlns:p14="http://schemas.microsoft.com/office/powerpoint/2010/main" val="27651959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7AD5BB-64B3-4EF0-2517-4B58D72B46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27621"/>
            <a:ext cx="7772400" cy="4602758"/>
          </a:xfrm>
          <a:prstGeom prst="rect">
            <a:avLst/>
          </a:prstGeom>
        </p:spPr>
      </p:pic>
      <p:sp>
        <p:nvSpPr>
          <p:cNvPr id="7" name="Line Callout 2 6">
            <a:extLst>
              <a:ext uri="{FF2B5EF4-FFF2-40B4-BE49-F238E27FC236}">
                <a16:creationId xmlns:a16="http://schemas.microsoft.com/office/drawing/2014/main" id="{6CD3C733-EBEF-E752-807D-9CC300C43BF1}"/>
              </a:ext>
            </a:extLst>
          </p:cNvPr>
          <p:cNvSpPr/>
          <p:nvPr/>
        </p:nvSpPr>
        <p:spPr>
          <a:xfrm>
            <a:off x="8229600" y="1985403"/>
            <a:ext cx="1660633" cy="1146679"/>
          </a:xfrm>
          <a:prstGeom prst="borderCallout2">
            <a:avLst>
              <a:gd name="adj1" fmla="val -4459"/>
              <a:gd name="adj2" fmla="val 29087"/>
              <a:gd name="adj3" fmla="val -16359"/>
              <a:gd name="adj4" fmla="val 10524"/>
              <a:gd name="adj5" fmla="val -30391"/>
              <a:gd name="adj6" fmla="val 141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Move Item Down,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Move Item Up,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Add New Item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Edit Selected Item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Delete Selected Item</a:t>
            </a:r>
          </a:p>
        </p:txBody>
      </p:sp>
      <p:sp>
        <p:nvSpPr>
          <p:cNvPr id="8" name="Line Callout 2 7">
            <a:extLst>
              <a:ext uri="{FF2B5EF4-FFF2-40B4-BE49-F238E27FC236}">
                <a16:creationId xmlns:a16="http://schemas.microsoft.com/office/drawing/2014/main" id="{BE00B007-6538-2F1D-118F-4D4F5D9625DB}"/>
              </a:ext>
            </a:extLst>
          </p:cNvPr>
          <p:cNvSpPr/>
          <p:nvPr/>
        </p:nvSpPr>
        <p:spPr>
          <a:xfrm>
            <a:off x="5412827" y="3603996"/>
            <a:ext cx="3993932" cy="1451480"/>
          </a:xfrm>
          <a:prstGeom prst="borderCallout2">
            <a:avLst>
              <a:gd name="adj1" fmla="val -4459"/>
              <a:gd name="adj2" fmla="val 29087"/>
              <a:gd name="adj3" fmla="val -16359"/>
              <a:gd name="adj4" fmla="val 10524"/>
              <a:gd name="adj5" fmla="val -30391"/>
              <a:gd name="adj6" fmla="val 141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Represents one of N Income Streams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Income Type (Social Security, Regular Income, Self-Employment Income, Pension Income)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Owner (Self, Spouse),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Yearly Income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Start Date (of the Income Stream)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End Date (of the Income Stream)</a:t>
            </a:r>
          </a:p>
        </p:txBody>
      </p:sp>
    </p:spTree>
    <p:extLst>
      <p:ext uri="{BB962C8B-B14F-4D97-AF65-F5344CB8AC3E}">
        <p14:creationId xmlns:p14="http://schemas.microsoft.com/office/powerpoint/2010/main" val="4269798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69464352-4D06-F3E8-B284-3FA2083D9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2058267"/>
            <a:ext cx="7772400" cy="274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6354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79ADCB1-2C05-FD7E-8EEB-58CEBDCBD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30848"/>
            <a:ext cx="7772400" cy="4596303"/>
          </a:xfrm>
          <a:prstGeom prst="rect">
            <a:avLst/>
          </a:prstGeom>
        </p:spPr>
      </p:pic>
      <p:sp>
        <p:nvSpPr>
          <p:cNvPr id="3" name="Line Callout 2 2">
            <a:extLst>
              <a:ext uri="{FF2B5EF4-FFF2-40B4-BE49-F238E27FC236}">
                <a16:creationId xmlns:a16="http://schemas.microsoft.com/office/drawing/2014/main" id="{DD0F5BCD-E3B1-9E98-CA10-15FDFA84773C}"/>
              </a:ext>
            </a:extLst>
          </p:cNvPr>
          <p:cNvSpPr/>
          <p:nvPr/>
        </p:nvSpPr>
        <p:spPr>
          <a:xfrm>
            <a:off x="8229600" y="1985403"/>
            <a:ext cx="1660633" cy="1146679"/>
          </a:xfrm>
          <a:prstGeom prst="borderCallout2">
            <a:avLst>
              <a:gd name="adj1" fmla="val -4459"/>
              <a:gd name="adj2" fmla="val 29087"/>
              <a:gd name="adj3" fmla="val -16359"/>
              <a:gd name="adj4" fmla="val 10524"/>
              <a:gd name="adj5" fmla="val -30391"/>
              <a:gd name="adj6" fmla="val 141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Move Item Down,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Move Item Up,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Add New Item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Edit Selected Item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Delete Selected Item</a:t>
            </a:r>
          </a:p>
        </p:txBody>
      </p:sp>
      <p:sp>
        <p:nvSpPr>
          <p:cNvPr id="4" name="Line Callout 2 3">
            <a:extLst>
              <a:ext uri="{FF2B5EF4-FFF2-40B4-BE49-F238E27FC236}">
                <a16:creationId xmlns:a16="http://schemas.microsoft.com/office/drawing/2014/main" id="{7BB4D4C3-1907-A3C4-8A36-F2DB361245FE}"/>
              </a:ext>
            </a:extLst>
          </p:cNvPr>
          <p:cNvSpPr/>
          <p:nvPr/>
        </p:nvSpPr>
        <p:spPr>
          <a:xfrm>
            <a:off x="5896301" y="3647089"/>
            <a:ext cx="3993932" cy="2080062"/>
          </a:xfrm>
          <a:prstGeom prst="borderCallout2">
            <a:avLst>
              <a:gd name="adj1" fmla="val -4459"/>
              <a:gd name="adj2" fmla="val 29087"/>
              <a:gd name="adj3" fmla="val -13699"/>
              <a:gd name="adj4" fmla="val 13682"/>
              <a:gd name="adj5" fmla="val -15607"/>
              <a:gd name="adj6" fmla="val 825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Represents one of N Investment Accounts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Account Name – Any meaningful  text string less than 16 characters.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Income Type (Savings/CD, Brokerage, Traditional IRA, Roth IRA)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Owner (Self, Spouse),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Account Balance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Cost Basis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Yearly Gain Percentage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Yearly Income Percentage</a:t>
            </a:r>
          </a:p>
        </p:txBody>
      </p:sp>
    </p:spTree>
    <p:extLst>
      <p:ext uri="{BB962C8B-B14F-4D97-AF65-F5344CB8AC3E}">
        <p14:creationId xmlns:p14="http://schemas.microsoft.com/office/powerpoint/2010/main" val="28914015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639A08D-D03A-F80F-4143-CE8E55BA5D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749371"/>
            <a:ext cx="7772400" cy="3359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5664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E5737F-3317-AEF4-E327-0F789FE168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28938"/>
            <a:ext cx="7772400" cy="4600123"/>
          </a:xfrm>
          <a:prstGeom prst="rect">
            <a:avLst/>
          </a:prstGeom>
        </p:spPr>
      </p:pic>
      <p:sp>
        <p:nvSpPr>
          <p:cNvPr id="3" name="Line Callout 2 2">
            <a:extLst>
              <a:ext uri="{FF2B5EF4-FFF2-40B4-BE49-F238E27FC236}">
                <a16:creationId xmlns:a16="http://schemas.microsoft.com/office/drawing/2014/main" id="{B3264AFF-0AAC-0342-A709-ADA69048C0E6}"/>
              </a:ext>
            </a:extLst>
          </p:cNvPr>
          <p:cNvSpPr/>
          <p:nvPr/>
        </p:nvSpPr>
        <p:spPr>
          <a:xfrm>
            <a:off x="8229600" y="1985403"/>
            <a:ext cx="1660633" cy="1146679"/>
          </a:xfrm>
          <a:prstGeom prst="borderCallout2">
            <a:avLst>
              <a:gd name="adj1" fmla="val -4459"/>
              <a:gd name="adj2" fmla="val 29087"/>
              <a:gd name="adj3" fmla="val -16359"/>
              <a:gd name="adj4" fmla="val 10524"/>
              <a:gd name="adj5" fmla="val -30391"/>
              <a:gd name="adj6" fmla="val 141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Move Item Down,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Move Item Up,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Add New Item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Edit Selected Item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Delete Selected Item</a:t>
            </a:r>
          </a:p>
        </p:txBody>
      </p:sp>
      <p:sp>
        <p:nvSpPr>
          <p:cNvPr id="4" name="Line Callout 2 3">
            <a:extLst>
              <a:ext uri="{FF2B5EF4-FFF2-40B4-BE49-F238E27FC236}">
                <a16:creationId xmlns:a16="http://schemas.microsoft.com/office/drawing/2014/main" id="{48107F61-86B8-91B9-F433-B0C72E34839B}"/>
              </a:ext>
            </a:extLst>
          </p:cNvPr>
          <p:cNvSpPr/>
          <p:nvPr/>
        </p:nvSpPr>
        <p:spPr>
          <a:xfrm>
            <a:off x="5276193" y="3253412"/>
            <a:ext cx="4614040" cy="2354318"/>
          </a:xfrm>
          <a:prstGeom prst="borderCallout2">
            <a:avLst>
              <a:gd name="adj1" fmla="val 42862"/>
              <a:gd name="adj2" fmla="val -2348"/>
              <a:gd name="adj3" fmla="val 21569"/>
              <a:gd name="adj4" fmla="val -6364"/>
              <a:gd name="adj5" fmla="val 8054"/>
              <a:gd name="adj6" fmla="val -723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Represents one of N Conversion Scenarios to Analyze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Scenario Name – Any meaningful  text string less than 16 characters.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Color – Color this scenario will be represented by in the comparison chart.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Amount Constraint (“Fixed Amount” or “MAGI Limited” or “Taxable Income Limit”)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Value  - Fixed yearly dollar conversion amount or Yearly MAGI dollar amount to enforce.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Start Date Constraint (“On Start of Plan” or “On Fixed Date”)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End Date Constraint (“When RMDS begin”, “On Fixed Date”, “On Plan End”)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 of Pre-Tax Dollars for Taxes</a:t>
            </a:r>
          </a:p>
        </p:txBody>
      </p:sp>
    </p:spTree>
    <p:extLst>
      <p:ext uri="{BB962C8B-B14F-4D97-AF65-F5344CB8AC3E}">
        <p14:creationId xmlns:p14="http://schemas.microsoft.com/office/powerpoint/2010/main" val="3087840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F4065AE-F6B2-130F-67FC-EC7E8EE7BC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860236"/>
            <a:ext cx="7772400" cy="513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8498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004AC01-24E9-67B2-F39A-03EC5C1025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130258"/>
            <a:ext cx="7772400" cy="4597484"/>
          </a:xfrm>
          <a:prstGeom prst="rect">
            <a:avLst/>
          </a:prstGeom>
        </p:spPr>
      </p:pic>
      <p:sp>
        <p:nvSpPr>
          <p:cNvPr id="3" name="Line Callout 2 2">
            <a:extLst>
              <a:ext uri="{FF2B5EF4-FFF2-40B4-BE49-F238E27FC236}">
                <a16:creationId xmlns:a16="http://schemas.microsoft.com/office/drawing/2014/main" id="{BD8DDB4D-7035-DDFD-B9A6-945F86A450B6}"/>
              </a:ext>
            </a:extLst>
          </p:cNvPr>
          <p:cNvSpPr/>
          <p:nvPr/>
        </p:nvSpPr>
        <p:spPr>
          <a:xfrm>
            <a:off x="4056993" y="1995913"/>
            <a:ext cx="2039007" cy="379425"/>
          </a:xfrm>
          <a:prstGeom prst="borderCallout2">
            <a:avLst>
              <a:gd name="adj1" fmla="val 17539"/>
              <a:gd name="adj2" fmla="val 104404"/>
              <a:gd name="adj3" fmla="val 17677"/>
              <a:gd name="adj4" fmla="val 128861"/>
              <a:gd name="adj5" fmla="val -83063"/>
              <a:gd name="adj6" fmla="val 16529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Dropdown to select what value is graphed</a:t>
            </a:r>
          </a:p>
        </p:txBody>
      </p:sp>
      <p:sp>
        <p:nvSpPr>
          <p:cNvPr id="4" name="Line Callout 2 3">
            <a:extLst>
              <a:ext uri="{FF2B5EF4-FFF2-40B4-BE49-F238E27FC236}">
                <a16:creationId xmlns:a16="http://schemas.microsoft.com/office/drawing/2014/main" id="{4B38681F-8418-82F9-F38B-B07F27BFDC79}"/>
              </a:ext>
            </a:extLst>
          </p:cNvPr>
          <p:cNvSpPr/>
          <p:nvPr/>
        </p:nvSpPr>
        <p:spPr>
          <a:xfrm>
            <a:off x="4056992" y="2705362"/>
            <a:ext cx="2039007" cy="379425"/>
          </a:xfrm>
          <a:prstGeom prst="borderCallout2">
            <a:avLst>
              <a:gd name="adj1" fmla="val 17539"/>
              <a:gd name="adj2" fmla="val 104404"/>
              <a:gd name="adj3" fmla="val 17677"/>
              <a:gd name="adj4" fmla="val 128861"/>
              <a:gd name="adj5" fmla="val 127462"/>
              <a:gd name="adj6" fmla="val 1668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Plot of every scenarios result for easy comparison. </a:t>
            </a:r>
          </a:p>
        </p:txBody>
      </p:sp>
      <p:sp>
        <p:nvSpPr>
          <p:cNvPr id="5" name="Line Callout 2 4">
            <a:extLst>
              <a:ext uri="{FF2B5EF4-FFF2-40B4-BE49-F238E27FC236}">
                <a16:creationId xmlns:a16="http://schemas.microsoft.com/office/drawing/2014/main" id="{328E319E-C5A8-F94A-4BB3-8372AC9E9313}"/>
              </a:ext>
            </a:extLst>
          </p:cNvPr>
          <p:cNvSpPr/>
          <p:nvPr/>
        </p:nvSpPr>
        <p:spPr>
          <a:xfrm>
            <a:off x="4361793" y="4229950"/>
            <a:ext cx="1177159" cy="379425"/>
          </a:xfrm>
          <a:prstGeom prst="borderCallout2">
            <a:avLst>
              <a:gd name="adj1" fmla="val 117261"/>
              <a:gd name="adj2" fmla="val 78235"/>
              <a:gd name="adj3" fmla="val 172801"/>
              <a:gd name="adj4" fmla="val 102637"/>
              <a:gd name="adj5" fmla="val 277046"/>
              <a:gd name="adj6" fmla="val 12293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Legend. </a:t>
            </a:r>
          </a:p>
        </p:txBody>
      </p:sp>
      <p:sp>
        <p:nvSpPr>
          <p:cNvPr id="12" name="Line Callout 2 11">
            <a:extLst>
              <a:ext uri="{FF2B5EF4-FFF2-40B4-BE49-F238E27FC236}">
                <a16:creationId xmlns:a16="http://schemas.microsoft.com/office/drawing/2014/main" id="{C0301030-EC7D-A0AF-B817-BB40592E2289}"/>
              </a:ext>
            </a:extLst>
          </p:cNvPr>
          <p:cNvSpPr/>
          <p:nvPr/>
        </p:nvSpPr>
        <p:spPr>
          <a:xfrm>
            <a:off x="6248398" y="3876275"/>
            <a:ext cx="2039007" cy="733100"/>
          </a:xfrm>
          <a:prstGeom prst="borderCallout2">
            <a:avLst>
              <a:gd name="adj1" fmla="val 17539"/>
              <a:gd name="adj2" fmla="val 104404"/>
              <a:gd name="adj3" fmla="val -35415"/>
              <a:gd name="adj4" fmla="val 119582"/>
              <a:gd name="adj5" fmla="val -118803"/>
              <a:gd name="adj6" fmla="val 134368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Trackbar display all value scenarios at a certain year.  Enabled by holding down left mouse button.</a:t>
            </a:r>
          </a:p>
        </p:txBody>
      </p:sp>
    </p:spTree>
    <p:extLst>
      <p:ext uri="{BB962C8B-B14F-4D97-AF65-F5344CB8AC3E}">
        <p14:creationId xmlns:p14="http://schemas.microsoft.com/office/powerpoint/2010/main" val="4969665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6FF473-F5DE-9C38-2821-37CF2F994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800" y="171450"/>
            <a:ext cx="2909137" cy="4495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9491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869C033-059B-1C14-E68A-4F6392B235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270674"/>
            <a:ext cx="7772400" cy="4316652"/>
          </a:xfrm>
          <a:prstGeom prst="rect">
            <a:avLst/>
          </a:prstGeom>
        </p:spPr>
      </p:pic>
      <p:sp>
        <p:nvSpPr>
          <p:cNvPr id="3" name="Line Callout 2 2">
            <a:extLst>
              <a:ext uri="{FF2B5EF4-FFF2-40B4-BE49-F238E27FC236}">
                <a16:creationId xmlns:a16="http://schemas.microsoft.com/office/drawing/2014/main" id="{76892875-509A-51F4-6B2C-54ED5256706F}"/>
              </a:ext>
            </a:extLst>
          </p:cNvPr>
          <p:cNvSpPr/>
          <p:nvPr/>
        </p:nvSpPr>
        <p:spPr>
          <a:xfrm>
            <a:off x="2963917" y="2447856"/>
            <a:ext cx="2039007" cy="600143"/>
          </a:xfrm>
          <a:prstGeom prst="borderCallout2">
            <a:avLst>
              <a:gd name="adj1" fmla="val 17539"/>
              <a:gd name="adj2" fmla="val 104404"/>
              <a:gd name="adj3" fmla="val 17677"/>
              <a:gd name="adj4" fmla="val 128861"/>
              <a:gd name="adj5" fmla="val -125029"/>
              <a:gd name="adj6" fmla="val 152924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Dropdown to select what values are presented in the table.</a:t>
            </a:r>
          </a:p>
        </p:txBody>
      </p:sp>
      <p:sp>
        <p:nvSpPr>
          <p:cNvPr id="4" name="Line Callout 2 3">
            <a:extLst>
              <a:ext uri="{FF2B5EF4-FFF2-40B4-BE49-F238E27FC236}">
                <a16:creationId xmlns:a16="http://schemas.microsoft.com/office/drawing/2014/main" id="{B6BCBE41-C968-B95A-D28A-BD1D8C92FCC3}"/>
              </a:ext>
            </a:extLst>
          </p:cNvPr>
          <p:cNvSpPr/>
          <p:nvPr/>
        </p:nvSpPr>
        <p:spPr>
          <a:xfrm>
            <a:off x="6473058" y="2447857"/>
            <a:ext cx="2039007" cy="600142"/>
          </a:xfrm>
          <a:prstGeom prst="borderCallout2">
            <a:avLst>
              <a:gd name="adj1" fmla="val -2827"/>
              <a:gd name="adj2" fmla="val 70899"/>
              <a:gd name="adj3" fmla="val -32019"/>
              <a:gd name="adj4" fmla="val 79377"/>
              <a:gd name="adj5" fmla="val -128493"/>
              <a:gd name="adj6" fmla="val 8075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Dropdown to select which scenarios' data is presented in the table.</a:t>
            </a:r>
          </a:p>
        </p:txBody>
      </p:sp>
    </p:spTree>
    <p:extLst>
      <p:ext uri="{BB962C8B-B14F-4D97-AF65-F5344CB8AC3E}">
        <p14:creationId xmlns:p14="http://schemas.microsoft.com/office/powerpoint/2010/main" val="120530215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0F6B87E3-7258-395B-65ED-ECFB87DB10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954379"/>
            <a:ext cx="7772400" cy="4949241"/>
          </a:xfrm>
          <a:prstGeom prst="rect">
            <a:avLst/>
          </a:prstGeom>
        </p:spPr>
      </p:pic>
      <p:sp>
        <p:nvSpPr>
          <p:cNvPr id="3" name="Line Callout 2 2">
            <a:extLst>
              <a:ext uri="{FF2B5EF4-FFF2-40B4-BE49-F238E27FC236}">
                <a16:creationId xmlns:a16="http://schemas.microsoft.com/office/drawing/2014/main" id="{9908BEEB-7855-AE12-F147-D495F5EA3186}"/>
              </a:ext>
            </a:extLst>
          </p:cNvPr>
          <p:cNvSpPr/>
          <p:nvPr/>
        </p:nvSpPr>
        <p:spPr>
          <a:xfrm>
            <a:off x="6096000" y="2206119"/>
            <a:ext cx="2039007" cy="600142"/>
          </a:xfrm>
          <a:prstGeom prst="borderCallout2">
            <a:avLst>
              <a:gd name="adj1" fmla="val -2827"/>
              <a:gd name="adj2" fmla="val 70899"/>
              <a:gd name="adj3" fmla="val -32019"/>
              <a:gd name="adj4" fmla="val 79377"/>
              <a:gd name="adj5" fmla="val -128493"/>
              <a:gd name="adj6" fmla="val 8075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dirty="0"/>
              <a:t>Dropdown to select which scenarios' data is presented in the table.</a:t>
            </a:r>
          </a:p>
        </p:txBody>
      </p:sp>
    </p:spTree>
    <p:extLst>
      <p:ext uri="{BB962C8B-B14F-4D97-AF65-F5344CB8AC3E}">
        <p14:creationId xmlns:p14="http://schemas.microsoft.com/office/powerpoint/2010/main" val="3992929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394</Words>
  <Application>Microsoft Macintosh PowerPoint</Application>
  <PresentationFormat>Widescreen</PresentationFormat>
  <Paragraphs>59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Kalan</dc:creator>
  <cp:lastModifiedBy>Michael Kalan</cp:lastModifiedBy>
  <cp:revision>7</cp:revision>
  <dcterms:created xsi:type="dcterms:W3CDTF">2025-05-15T23:56:52Z</dcterms:created>
  <dcterms:modified xsi:type="dcterms:W3CDTF">2025-12-31T16:35:01Z</dcterms:modified>
</cp:coreProperties>
</file>